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4E78"/>
                </a:solidFill>
              </a:defRPr>
            </a:pPr>
            <a:r>
              <a:t>SLIDE 1: DESIGN AND IMPLEMENTATION OF AN INTELLIGENT DOCUMENT ANALYSIS AND LEARNING ASSISTANT SYSTEM (AuraQA)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B.Sc. Graduation Project Defense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Presented by: </a:t>
            </a:r>
            <a:r>
              <a:rPr sz="1500">
                <a:solidFill>
                  <a:srgbClr val="333333"/>
                </a:solidFill>
              </a:rPr>
              <a:t>MUHAMMAD, Sagir Auwal (Reg. No: FUK/SCI/19/COM/0004)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Department: </a:t>
            </a:r>
            <a:r>
              <a:rPr sz="1500">
                <a:solidFill>
                  <a:srgbClr val="333333"/>
                </a:solidFill>
              </a:rPr>
              <a:t>Department of Computer Science, Faculty of Science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Institution: </a:t>
            </a:r>
            <a:r>
              <a:rPr sz="1500">
                <a:solidFill>
                  <a:srgbClr val="333333"/>
                </a:solidFill>
              </a:rPr>
              <a:t>Federal University of Kashere (FUK), Gombe State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Supervision: </a:t>
            </a:r>
            <a:r>
              <a:rPr sz="1500">
                <a:solidFill>
                  <a:srgbClr val="333333"/>
                </a:solidFill>
              </a:rPr>
              <a:t>Dr. David Oyewola (Supervisor) | Dr. (Mrs.) Asabe (HOD)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Session: </a:t>
            </a:r>
            <a:r>
              <a:rPr sz="1500">
                <a:solidFill>
                  <a:srgbClr val="333333"/>
                </a:solidFill>
              </a:rPr>
              <a:t>July,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2: SHORT ABSTRACT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Executive Summary of the Research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Problem Context: </a:t>
            </a:r>
            <a:r>
              <a:rPr sz="1500">
                <a:solidFill>
                  <a:srgbClr val="333333"/>
                </a:solidFill>
              </a:rPr>
              <a:t>Cloud-based LLMs present severe data privacy risks and high operational API costs when processing private academic documents.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Proposed Solution: </a:t>
            </a:r>
            <a:r>
              <a:rPr sz="1500">
                <a:solidFill>
                  <a:srgbClr val="333333"/>
                </a:solidFill>
              </a:rPr>
              <a:t>AuraQA introduces a fully offline Retrieval-Augmented Generation (RAG) system utilizing FAISS dense vector search and local LLMs.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Key Methodology: </a:t>
            </a:r>
            <a:r>
              <a:rPr sz="1500">
                <a:solidFill>
                  <a:srgbClr val="333333"/>
                </a:solidFill>
              </a:rPr>
              <a:t>Employs Prototyping SDLC, aligned 1000-char text chunking, and a deterministic rule-based query classifier (0.00s latency).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Empirical Results: </a:t>
            </a:r>
            <a:r>
              <a:rPr sz="1500">
                <a:solidFill>
                  <a:srgbClr val="333333"/>
                </a:solidFill>
              </a:rPr>
              <a:t>Overall RAG CPU latency reduced by 48.57% (71.69s to 36.87s) with a 0.40 similarity threshold out-of-scope grounding shield.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Multilingual Support: </a:t>
            </a:r>
            <a:r>
              <a:rPr sz="1500">
                <a:solidFill>
                  <a:srgbClr val="333333"/>
                </a:solidFill>
              </a:rPr>
              <a:t>Native support for Hausa, Arabic, French, Spanish, German, and English query handling.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3: AIM AND OBJECTIVES OF THE SYSTEM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System Goals and Functional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Overall Aim: </a:t>
            </a:r>
            <a:r>
              <a:rPr sz="1500">
                <a:solidFill>
                  <a:srgbClr val="333333"/>
                </a:solidFill>
              </a:rPr>
              <a:t>Develop a high-speed, secure, offline Intelligent Document Analysis and Learning Assistant System using local RAG.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1 - Multi-format Parsing: </a:t>
            </a:r>
            <a:r>
              <a:rPr sz="1500">
                <a:solidFill>
                  <a:srgbClr val="333333"/>
                </a:solidFill>
              </a:rPr>
              <a:t>Support seamless text ingestion from PDF, DOCX, TXT, and CSV files with page/row tracking.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2 - Local RAG QA: </a:t>
            </a:r>
            <a:r>
              <a:rPr sz="1500">
                <a:solidFill>
                  <a:srgbClr val="333333"/>
                </a:solidFill>
              </a:rPr>
              <a:t>Provide context-grounded question answering using Ollama local models (Qwen 2.5 / Gemma 2).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3 - Study Mode Tools: </a:t>
            </a:r>
            <a:r>
              <a:rPr sz="1500">
                <a:solidFill>
                  <a:srgbClr val="333333"/>
                </a:solidFill>
              </a:rPr>
              <a:t>Generate structured summaries, multiple-choice quizzes, and interactive study flashcards offline.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4 - Grounding Shield &amp; Multilingual: </a:t>
            </a:r>
            <a:r>
              <a:rPr sz="1500">
                <a:solidFill>
                  <a:srgbClr val="333333"/>
                </a:solidFill>
              </a:rPr>
              <a:t>Enforce a 0.40 similarity threshold to block out-of-scope hallucinations and support Hausa cross-lingual QA.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4: SYSTEM DEVELOPMENT LIFE CYCLE (SDLC) &amp; METHODOLOGY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Prototyping Methodology &amp; Phase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What is the Methodology? </a:t>
            </a:r>
            <a:r>
              <a:rPr sz="1500">
                <a:solidFill>
                  <a:srgbClr val="333333"/>
                </a:solidFill>
              </a:rPr>
              <a:t>Prototyping SDLC — an iterative 4-phase software engineering model chosen over rigid Waterfall for continuous experimental refinement.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Phase 1 - Requirements &amp; Analysis: </a:t>
            </a:r>
            <a:r>
              <a:rPr sz="1500">
                <a:solidFill>
                  <a:srgbClr val="333333"/>
                </a:solidFill>
              </a:rPr>
              <a:t>Defined offline data privacy requirements, multi-format ingestion needs (PDF, DOCX, CSV), and local CPU hardware latency constraints.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Phase 2 - Quick Prototype Design: </a:t>
            </a:r>
            <a:r>
              <a:rPr sz="1500">
                <a:solidFill>
                  <a:srgbClr val="333333"/>
                </a:solidFill>
              </a:rPr>
              <a:t>Built initial Next.js single-page UI, FastAPI backend services, SQLite database schemas, and FAISS vector indexing.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Phase 3 - Iterative Refinement &amp; Benchmarking: </a:t>
            </a:r>
            <a:r>
              <a:rPr sz="1500">
                <a:solidFill>
                  <a:srgbClr val="333333"/>
                </a:solidFill>
              </a:rPr>
              <a:t>Iteratively benchmarked chunk sizes (finding 1000 chars + 150 overlap optimal) and created the 0.00s deterministic query classifier.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Phase 4 - Final System Evaluation &amp; Testing: </a:t>
            </a:r>
            <a:r>
              <a:rPr sz="1500">
                <a:solidFill>
                  <a:srgbClr val="333333"/>
                </a:solidFill>
              </a:rPr>
              <a:t>Validated out-of-scope grounding shield accuracy (threshold 0.40), Hausa query detection, and full offline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5: TESTING AND BENCHMARK RESULTS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Empirical Performance Evaluation &amp; Latency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RAG Execution Latency: </a:t>
            </a:r>
            <a:r>
              <a:rPr sz="1500">
                <a:solidFill>
                  <a:srgbClr val="333333"/>
                </a:solidFill>
              </a:rPr>
              <a:t>Overall RAG execution time on CPU reduced by 48.57% (from 71.69s down to 36.87s).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Classifier Speedup: </a:t>
            </a:r>
            <a:r>
              <a:rPr sz="1500">
                <a:solidFill>
                  <a:srgbClr val="333333"/>
                </a:solidFill>
              </a:rPr>
              <a:t>Deterministic query router reduced intent classification latency from 12.4s down to 0.00s.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Grounding Shield Accuracy: </a:t>
            </a:r>
            <a:r>
              <a:rPr sz="1500">
                <a:solidFill>
                  <a:srgbClr val="333333"/>
                </a:solidFill>
              </a:rPr>
              <a:t>0.40 cosine similarity threshold effectively blocked 100% of out-of-scope hallucinated queries.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System Reliability: </a:t>
            </a:r>
            <a:r>
              <a:rPr sz="1500">
                <a:solidFill>
                  <a:srgbClr val="333333"/>
                </a:solidFill>
              </a:rPr>
              <a:t>All primary modules (Auth, Upload, QA, Summary, Quiz, Flashcards) passed automated verification.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6: CONCLUSION AND CONTRIBUTIONS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Summary of Accomplishments and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Summary: </a:t>
            </a:r>
            <a:r>
              <a:rPr sz="1500">
                <a:solidFill>
                  <a:srgbClr val="333333"/>
                </a:solidFill>
              </a:rPr>
              <a:t>AuraQA successfully proves that high-performance, secure AI document intelligence is achievable locally on CPU hardware.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Data Sovereignty: </a:t>
            </a:r>
            <a:r>
              <a:rPr sz="1500">
                <a:solidFill>
                  <a:srgbClr val="333333"/>
                </a:solidFill>
              </a:rPr>
              <a:t>Eliminates all third-party cloud data transmission, ensuring 100% user data privacy.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Zero API Operational Cost: </a:t>
            </a:r>
            <a:r>
              <a:rPr sz="1500">
                <a:solidFill>
                  <a:srgbClr val="333333"/>
                </a:solidFill>
              </a:rPr>
              <a:t>Provides educational institutions with unlimited AI assistance at zero API usage fees.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Unified Learning Platform: </a:t>
            </a:r>
            <a:r>
              <a:rPr sz="1500">
                <a:solidFill>
                  <a:srgbClr val="333333"/>
                </a:solidFill>
              </a:rPr>
              <a:t>First system to integrate multi-lingual document QA, automated summarization, quizzes, and flashcards in one offline application.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7: KEY REFERENCES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Short Academic Literature Citations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Lewis et al. (2020): </a:t>
            </a:r>
            <a:r>
              <a:rPr sz="1500">
                <a:solidFill>
                  <a:srgbClr val="333333"/>
                </a:solidFill>
              </a:rPr>
              <a:t>Retrieval-Augmented Generation for Knowledge-Intensive NLP Tasks. Advances in Neural Information Processing Systems (NeurIPS).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Johnson et al. (2019): </a:t>
            </a:r>
            <a:r>
              <a:rPr sz="1500">
                <a:solidFill>
                  <a:srgbClr val="333333"/>
                </a:solidFill>
              </a:rPr>
              <a:t>Billion-scale similarity search with GPUs. IEEE Transactions on Big Data, 7(3), 535-547 (FAISS Framework).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Reimers &amp; Gurevych (2019): </a:t>
            </a:r>
            <a:r>
              <a:rPr sz="1500">
                <a:solidFill>
                  <a:srgbClr val="333333"/>
                </a:solidFill>
              </a:rPr>
              <a:t>Sentence-BERT: Sentence Embeddings using Siamese BERT-Networks. Proceedings of EMNLP.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Vaswani et al. (2017): </a:t>
            </a:r>
            <a:r>
              <a:rPr sz="1500">
                <a:solidFill>
                  <a:srgbClr val="333333"/>
                </a:solidFill>
              </a:rPr>
              <a:t>Attention Is All You Need. Advances in Neural Information Processing Systems (Transformer Architecture).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8: RECOMMENDATIONS &amp; FUTURE WORK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Future Extensions &amp; Defense Panel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Recommendation 1 (OCR Integration): </a:t>
            </a:r>
            <a:r>
              <a:rPr sz="1500">
                <a:solidFill>
                  <a:srgbClr val="333333"/>
                </a:solidFill>
              </a:rPr>
              <a:t>Incorporate Optical Character Recognition (Tesseract/PaddleOCR) for scanned paper documents.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Recommendation 2 (Mobile App): </a:t>
            </a:r>
            <a:r>
              <a:rPr sz="1500">
                <a:solidFill>
                  <a:srgbClr val="333333"/>
                </a:solidFill>
              </a:rPr>
              <a:t>Develop a lightweight cross-platform mobile application powered by ONNX runtime.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Recommendation 3 (Voice Assistant): </a:t>
            </a:r>
            <a:r>
              <a:rPr sz="1500">
                <a:solidFill>
                  <a:srgbClr val="333333"/>
                </a:solidFill>
              </a:rPr>
              <a:t>Integrate local Whisper Speech-to-Text for hands-free voice interaction.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Acknowledgement &amp; Q&amp;A: </a:t>
            </a:r>
            <a:r>
              <a:rPr sz="1500">
                <a:solidFill>
                  <a:srgbClr val="333333"/>
                </a:solidFill>
              </a:rPr>
              <a:t>Thank you for your time and attention. I am now open to questions from the honorable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