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F4E78"/>
                </a:solidFill>
              </a:defRPr>
            </a:pPr>
            <a:r>
              <a:t>SLIDE 1: DESIGN AND IMPLEMENTATION OF AN INTELLIGENT DOCUMENT ANALYSIS AND LEARNING ASSISTANT SYSTEM (AuraQA)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B.Sc. Graduation Project Defense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Presented by: </a:t>
            </a:r>
            <a:r>
              <a:rPr sz="1500">
                <a:solidFill>
                  <a:srgbClr val="333333"/>
                </a:solidFill>
              </a:rPr>
              <a:t>MUHAMMAD, Sagir Auwal (Reg. No: FUK/SCI/19/COM/0004)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Department: </a:t>
            </a:r>
            <a:r>
              <a:rPr sz="1500">
                <a:solidFill>
                  <a:srgbClr val="333333"/>
                </a:solidFill>
              </a:rPr>
              <a:t>Department of Computer Science, Faculty of Science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Institution: </a:t>
            </a:r>
            <a:r>
              <a:rPr sz="1500">
                <a:solidFill>
                  <a:srgbClr val="333333"/>
                </a:solidFill>
              </a:rPr>
              <a:t>Federal University of Kashere (FUK), Gombe State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Supervision: </a:t>
            </a:r>
            <a:r>
              <a:rPr sz="1500">
                <a:solidFill>
                  <a:srgbClr val="333333"/>
                </a:solidFill>
              </a:rPr>
              <a:t>Dr. David Oyewola (Supervisor) | Dr. (Mrs.) Asabe (HOD)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Session: </a:t>
            </a:r>
            <a:r>
              <a:rPr sz="1500">
                <a:solidFill>
                  <a:srgbClr val="333333"/>
                </a:solidFill>
              </a:rPr>
              <a:t>July,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2: SHORT ABSTRACT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Executive Summary of the Research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Problem Context: </a:t>
            </a:r>
            <a:r>
              <a:rPr sz="1500">
                <a:solidFill>
                  <a:srgbClr val="333333"/>
                </a:solidFill>
              </a:rPr>
              <a:t>Cloud-based LLMs present severe data privacy risks and high operational API costs when processing private academic documents.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Proposed Solution: </a:t>
            </a:r>
            <a:r>
              <a:rPr sz="1500">
                <a:solidFill>
                  <a:srgbClr val="333333"/>
                </a:solidFill>
              </a:rPr>
              <a:t>AuraQA introduces a fully offline Retrieval-Augmented Generation (RAG) system utilizing FAISS dense vector search and local LLMs.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Key Methodology: </a:t>
            </a:r>
            <a:r>
              <a:rPr sz="1500">
                <a:solidFill>
                  <a:srgbClr val="333333"/>
                </a:solidFill>
              </a:rPr>
              <a:t>Employs Prototyping SDLC, aligned 1000-char text chunking, and a deterministic rule-based query classifier (0.00s latency).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Empirical Results: </a:t>
            </a:r>
            <a:r>
              <a:rPr sz="1500">
                <a:solidFill>
                  <a:srgbClr val="333333"/>
                </a:solidFill>
              </a:rPr>
              <a:t>Overall RAG CPU latency reduced by 48.57% (71.69s to 36.87s) with a 0.40 similarity threshold out-of-scope grounding shield.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Multilingual Support: </a:t>
            </a:r>
            <a:r>
              <a:rPr sz="1500">
                <a:solidFill>
                  <a:srgbClr val="333333"/>
                </a:solidFill>
              </a:rPr>
              <a:t>Native support for Hausa, Arabic, French, Spanish, German, and English query handling.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3: BACKGROUND OF THE STUDY &amp; PROBLEM STATEMENT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Motivation and Challenges in Academic Document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Manual Inefficiency: </a:t>
            </a:r>
            <a:r>
              <a:rPr sz="1500">
                <a:solidFill>
                  <a:srgbClr val="333333"/>
                </a:solidFill>
              </a:rPr>
              <a:t>Manual reading and keyword searching across extensive PDF/DOCX documents lead to information oversight and context loss.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Cloud Data Sovereignty: </a:t>
            </a:r>
            <a:r>
              <a:rPr sz="1500">
                <a:solidFill>
                  <a:srgbClr val="333333"/>
                </a:solidFill>
              </a:rPr>
              <a:t>Sending private research or institutional data to external cloud APIs violates data sovereignty and incurs continuous usage fees.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CPU Latency Bottleneck: </a:t>
            </a:r>
            <a:r>
              <a:rPr sz="1500">
                <a:solidFill>
                  <a:srgbClr val="333333"/>
                </a:solidFill>
              </a:rPr>
              <a:t>Running local LLMs directly on standard CPU hardware suffers from high prefill latency during context processing.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Integrated Learning Support: </a:t>
            </a:r>
            <a:r>
              <a:rPr sz="1500">
                <a:solidFill>
                  <a:srgbClr val="333333"/>
                </a:solidFill>
              </a:rPr>
              <a:t>Existing tools lack a single platform combining document QA with Study Mode features (Summaries, Quizzes, Flashcards).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4: AIM AND OBJECTIVES OF THE SYSTEM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System Goals and Functional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Overall Aim: </a:t>
            </a:r>
            <a:r>
              <a:rPr sz="1500">
                <a:solidFill>
                  <a:srgbClr val="333333"/>
                </a:solidFill>
              </a:rPr>
              <a:t>Develop a high-speed, secure, offline Intelligent Document Analysis and Learning Assistant System using local RAG.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Objective 1 - Multi-format Parsing: </a:t>
            </a:r>
            <a:r>
              <a:rPr sz="1500">
                <a:solidFill>
                  <a:srgbClr val="333333"/>
                </a:solidFill>
              </a:rPr>
              <a:t>Support seamless text ingestion from PDF, DOCX, TXT, and CSV files with page/row tracking.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Objective 2 - Local RAG QA: </a:t>
            </a:r>
            <a:r>
              <a:rPr sz="1500">
                <a:solidFill>
                  <a:srgbClr val="333333"/>
                </a:solidFill>
              </a:rPr>
              <a:t>Provide context-grounded question answering using Ollama local models (Qwen 2.5 / Gemma 2).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Objective 3 - Study Mode Tools: </a:t>
            </a:r>
            <a:r>
              <a:rPr sz="1500">
                <a:solidFill>
                  <a:srgbClr val="333333"/>
                </a:solidFill>
              </a:rPr>
              <a:t>Generate structured summaries, multiple-choice quizzes, and interactive study flashcards offline.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Objective 4 - Grounding Shield &amp; Multilingual: </a:t>
            </a:r>
            <a:r>
              <a:rPr sz="1500">
                <a:solidFill>
                  <a:srgbClr val="333333"/>
                </a:solidFill>
              </a:rPr>
              <a:t>Enforce a 0.40 similarity threshold to block out-of-scope hallucinations and support Hausa cross-lingual QA.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5: SDLC METHODOLOGY &amp; WHY PROTOTYPING WAS CHOSEN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Software Development Life Cycle &amp; Architectural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Methodology Adopted: </a:t>
            </a:r>
            <a:r>
              <a:rPr sz="1500">
                <a:solidFill>
                  <a:srgbClr val="333333"/>
                </a:solidFill>
              </a:rPr>
              <a:t>Prototyping Software Development Life Cycle (SDLC) was selected over traditional Waterfall.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Why Prototyping? (Reason 1 - Iterative Chunking): </a:t>
            </a:r>
            <a:r>
              <a:rPr sz="1500">
                <a:solidFill>
                  <a:srgbClr val="333333"/>
                </a:solidFill>
              </a:rPr>
              <a:t>Allowed benchmarking different segment sizes to discover the optimal 1000-char chunking with 150-char overlap.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Why Prototyping? (Reason 2 - UI Refinement): </a:t>
            </a:r>
            <a:r>
              <a:rPr sz="1500">
                <a:solidFill>
                  <a:srgbClr val="333333"/>
                </a:solidFill>
              </a:rPr>
              <a:t>Rapidly testing and refining the collapsible sidebar, floating overlay, and Study Mode dashboards with direct feedback.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Why Prototyping? (Reason 3 - Latency Optimization): </a:t>
            </a:r>
            <a:r>
              <a:rPr sz="1500">
                <a:solidFill>
                  <a:srgbClr val="333333"/>
                </a:solidFill>
              </a:rPr>
              <a:t>Enabled benchmark-driven iterations that introduced the 0.00s deterministic query classifier and out-of-scope grounding shield.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6: SYSTEM ARCHITECTURE AND DATA FLOW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End-to-End Pipeline &amp; Component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User Interaction Layer: </a:t>
            </a:r>
            <a:r>
              <a:rPr sz="1500">
                <a:solidFill>
                  <a:srgbClr val="333333"/>
                </a:solidFill>
              </a:rPr>
              <a:t>Next.js 16 responsive SPA interface communicating with backend services via REST APIs.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Ingestion &amp; Extraction Layer: </a:t>
            </a:r>
            <a:r>
              <a:rPr sz="1500">
                <a:solidFill>
                  <a:srgbClr val="333333"/>
                </a:solidFill>
              </a:rPr>
              <a:t>Multi-format text extraction (pdf, docx, csv, txt) split into overlapping semantic segments.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Dense Vector Indexing: </a:t>
            </a:r>
            <a:r>
              <a:rPr sz="1500">
                <a:solidFill>
                  <a:srgbClr val="333333"/>
                </a:solidFill>
              </a:rPr>
              <a:t>paraphrase-multilingual-MiniLM-L12-v2 model maps text chunks into FAISS FlatIP index.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Intent &amp; Search Engine: </a:t>
            </a:r>
            <a:r>
              <a:rPr sz="1500">
                <a:solidFill>
                  <a:srgbClr val="333333"/>
                </a:solidFill>
              </a:rPr>
              <a:t>Deterministic rule-based query classifier routes requests in 0.00s and retrieves top matching vectors.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Local LLM Generation: </a:t>
            </a:r>
            <a:r>
              <a:rPr sz="1500">
                <a:solidFill>
                  <a:srgbClr val="333333"/>
                </a:solidFill>
              </a:rPr>
              <a:t>Ollama engine executes Qwen 2.5 / Gemma 2 locally to stream grounded answers.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7: TECHNOLOGIES USED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Software Stack and Framework Specifications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Frontend Framework: </a:t>
            </a:r>
            <a:r>
              <a:rPr sz="1500">
                <a:solidFill>
                  <a:srgbClr val="333333"/>
                </a:solidFill>
              </a:rPr>
              <a:t>Next.js 16 (React 19) + Tailwind CSS + Lucide Icons.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Backend Engine: </a:t>
            </a:r>
            <a:r>
              <a:rPr sz="1500">
                <a:solidFill>
                  <a:srgbClr val="333333"/>
                </a:solidFill>
              </a:rPr>
              <a:t>FastAPI (Python 3.10+) + Uvicorn ASGI Server.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Relational Database: </a:t>
            </a:r>
            <a:r>
              <a:rPr sz="1500">
                <a:solidFill>
                  <a:srgbClr val="333333"/>
                </a:solidFill>
              </a:rPr>
              <a:t>SQLite (SQLAlchemy ORM for Users, Chats, Documents, Quizzes, Flashcards).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Vector Store: </a:t>
            </a:r>
            <a:r>
              <a:rPr sz="1500">
                <a:solidFill>
                  <a:srgbClr val="333333"/>
                </a:solidFill>
              </a:rPr>
              <a:t>FAISS (Facebook AI Similarity Search) with IndexIDMap and Inner Product quantizer.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AI Embeddings &amp; LLM: </a:t>
            </a:r>
            <a:r>
              <a:rPr sz="1500">
                <a:solidFill>
                  <a:srgbClr val="333333"/>
                </a:solidFill>
              </a:rPr>
              <a:t>Sentence Transformers + Ollama Local LLM Runner (Qwen 2.5 0.5B / Gemma 2 2B).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8: SYSTEM DEMONSTRATION &amp; CORE MODULES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Feature Breakdown and User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Authentication Module: </a:t>
            </a:r>
            <a:r>
              <a:rPr sz="1500">
                <a:solidFill>
                  <a:srgbClr val="333333"/>
                </a:solidFill>
              </a:rPr>
              <a:t>Secure JWT token authentication with bcrypt password hashing.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Document Library &amp; Upload: </a:t>
            </a:r>
            <a:r>
              <a:rPr sz="1500">
                <a:solidFill>
                  <a:srgbClr val="333333"/>
                </a:solidFill>
              </a:rPr>
              <a:t>Drag-and-drop file ingestion with automatic language detection.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Chat Interface: </a:t>
            </a:r>
            <a:r>
              <a:rPr sz="1500">
                <a:solidFill>
                  <a:srgbClr val="333333"/>
                </a:solidFill>
              </a:rPr>
              <a:t>Collapsible Gemini-style sidebar, floating overlay input, and streaming response viewport.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Study Mode Tools: </a:t>
            </a:r>
            <a:r>
              <a:rPr sz="1500">
                <a:solidFill>
                  <a:srgbClr val="333333"/>
                </a:solidFill>
              </a:rPr>
              <a:t>Instant automated summary extraction, multiple-choice quiz generator, and interactive flashcards.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Hausa Multilingual Support: </a:t>
            </a:r>
            <a:r>
              <a:rPr sz="1500">
                <a:solidFill>
                  <a:srgbClr val="333333"/>
                </a:solidFill>
              </a:rPr>
              <a:t>Native Hausa query detection (`ha`) with Hausa out-of-scope warning prefixes.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9: TESTING AND BENCHMARK RESULTS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Empirical Performance Evaluation &amp; Latency Gains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RAG Execution Latency: </a:t>
            </a:r>
            <a:r>
              <a:rPr sz="1500">
                <a:solidFill>
                  <a:srgbClr val="333333"/>
                </a:solidFill>
              </a:rPr>
              <a:t>Overall RAG execution time on CPU reduced by 48.57% (from 71.69s down to 36.87s).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Classifier Speedup: </a:t>
            </a:r>
            <a:r>
              <a:rPr sz="1500">
                <a:solidFill>
                  <a:srgbClr val="333333"/>
                </a:solidFill>
              </a:rPr>
              <a:t>Deterministic query router reduced intent classification latency from 12.4s down to 0.00s.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Grounding Shield Accuracy: </a:t>
            </a:r>
            <a:r>
              <a:rPr sz="1500">
                <a:solidFill>
                  <a:srgbClr val="333333"/>
                </a:solidFill>
              </a:rPr>
              <a:t>0.40 cosine similarity threshold effectively blocked 100% of out-of-scope hallucinated queries.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System Reliability: </a:t>
            </a:r>
            <a:r>
              <a:rPr sz="1500">
                <a:solidFill>
                  <a:srgbClr val="333333"/>
                </a:solidFill>
              </a:rPr>
              <a:t>All primary modules (Auth, Upload, QA, Summary, Quiz, Flashcards) passed automated verification.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10: CONCLUSION AND CONTRIBUTIONS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Summary of Accomplishments and 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Summary: </a:t>
            </a:r>
            <a:r>
              <a:rPr sz="1500">
                <a:solidFill>
                  <a:srgbClr val="333333"/>
                </a:solidFill>
              </a:rPr>
              <a:t>AuraQA successfully proves that high-performance, secure AI document intelligence is achievable locally on CPU hardware.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Data Sovereignty: </a:t>
            </a:r>
            <a:r>
              <a:rPr sz="1500">
                <a:solidFill>
                  <a:srgbClr val="333333"/>
                </a:solidFill>
              </a:rPr>
              <a:t>Eliminates all third-party cloud data transmission, ensuring 100% user data privacy.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Zero API Operational Cost: </a:t>
            </a:r>
            <a:r>
              <a:rPr sz="1500">
                <a:solidFill>
                  <a:srgbClr val="333333"/>
                </a:solidFill>
              </a:rPr>
              <a:t>Provides educational institutions with unlimited AI assistance at zero API usage fees.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Unified Learning Platform: </a:t>
            </a:r>
            <a:r>
              <a:rPr sz="1500">
                <a:solidFill>
                  <a:srgbClr val="333333"/>
                </a:solidFill>
              </a:rPr>
              <a:t>First system to integrate multi-lingual document QA, automated summarization, quizzes, and flashcards in one offline application.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11: KEY REFERENCES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Short Academic Literature Citations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Lewis et al. (2020): </a:t>
            </a:r>
            <a:r>
              <a:rPr sz="1500">
                <a:solidFill>
                  <a:srgbClr val="333333"/>
                </a:solidFill>
              </a:rPr>
              <a:t>Retrieval-Augmented Generation for Knowledge-Intensive NLP Tasks. Advances in Neural Information Processing Systems (NeurIPS).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Johnson et al. (2019): </a:t>
            </a:r>
            <a:r>
              <a:rPr sz="1500">
                <a:solidFill>
                  <a:srgbClr val="333333"/>
                </a:solidFill>
              </a:rPr>
              <a:t>Billion-scale similarity search with GPUs. IEEE Transactions on Big Data, 7(3), 535-547 (FAISS Framework).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Reimers &amp; Gurevych (2019): </a:t>
            </a:r>
            <a:r>
              <a:rPr sz="1500">
                <a:solidFill>
                  <a:srgbClr val="333333"/>
                </a:solidFill>
              </a:rPr>
              <a:t>Sentence-BERT: Sentence Embeddings using Siamese BERT-Networks. Proceedings of EMNLP.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Vaswani et al. (2017): </a:t>
            </a:r>
            <a:r>
              <a:rPr sz="1500">
                <a:solidFill>
                  <a:srgbClr val="333333"/>
                </a:solidFill>
              </a:rPr>
              <a:t>Attention Is All You Need. Advances in Neural Information Processing Systems (Transformer Architecture).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8"/>
                </a:solidFill>
              </a:defRPr>
            </a:pPr>
            <a:r>
              <a:t>SLIDE 12: RECOMMENDATIONS &amp; FUTURE WORK</a:t>
            </a:r>
          </a:p>
          <a:p>
            <a:pPr>
              <a:defRPr sz="1300" i="1">
                <a:solidFill>
                  <a:srgbClr val="595959"/>
                </a:solidFill>
              </a:defRPr>
            </a:pPr>
            <a:r>
              <a:t>Future Extensions &amp; Defense Panel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Recommendation 1 (OCR Integration): </a:t>
            </a:r>
            <a:r>
              <a:rPr sz="1500">
                <a:solidFill>
                  <a:srgbClr val="333333"/>
                </a:solidFill>
              </a:rPr>
              <a:t>Incorporate Optical Character Recognition (Tesseract/PaddleOCR) for scanned paper documents.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Recommendation 2 (Mobile App): </a:t>
            </a:r>
            <a:r>
              <a:rPr sz="1500">
                <a:solidFill>
                  <a:srgbClr val="333333"/>
                </a:solidFill>
              </a:rPr>
              <a:t>Develop a lightweight cross-platform mobile application powered by ONNX runtime.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Recommendation 3 (Voice Assistant): </a:t>
            </a:r>
            <a:r>
              <a:rPr sz="1500">
                <a:solidFill>
                  <a:srgbClr val="333333"/>
                </a:solidFill>
              </a:rPr>
              <a:t>Integrate local Whisper Speech-to-Text for hands-free voice interaction.</a:t>
            </a:r>
          </a:p>
          <a:p>
            <a:pPr>
              <a:spcAft>
                <a:spcPts val="1000"/>
              </a:spcAft>
            </a:pPr>
            <a:r>
              <a:rPr b="1" sz="1500">
                <a:solidFill>
                  <a:srgbClr val="1F4E78"/>
                </a:solidFill>
              </a:rPr>
              <a:t>Acknowledgement &amp; Q&amp;A: </a:t>
            </a:r>
            <a:r>
              <a:rPr sz="1500">
                <a:solidFill>
                  <a:srgbClr val="333333"/>
                </a:solidFill>
              </a:rPr>
              <a:t>Thank you for your time and attention. I am now open to questions from the honorable panel.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