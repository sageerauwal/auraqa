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8"/>
                </a:solidFill>
              </a:defRPr>
            </a:pPr>
            <a:r>
              <a:t>DESIGN AND IMPLEMENTATION OF AN INTELLIGENT DOCUMENT ANALYSIS AND LEARNING ASSISTANT SYSTEM (AuraQA)</a:t>
            </a:r>
          </a:p>
          <a:p>
            <a:pPr>
              <a:defRPr sz="1300" i="1">
                <a:solidFill>
                  <a:srgbClr val="595959"/>
                </a:solidFill>
              </a:defRPr>
            </a:pPr>
            <a:r>
              <a:t>B.Sc. Graduation Project Defense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Presented by: </a:t>
            </a:r>
            <a:r>
              <a:rPr sz="1500">
                <a:solidFill>
                  <a:srgbClr val="333333"/>
                </a:solidFill>
              </a:rPr>
              <a:t>MUHAMMAD, Sagir Auwal (Reg. No: FUK/SCI/19/COM/0004)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Department: </a:t>
            </a:r>
            <a:r>
              <a:rPr sz="1500">
                <a:solidFill>
                  <a:srgbClr val="333333"/>
                </a:solidFill>
              </a:rPr>
              <a:t>Department of Computer Science, Faculty of Science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Institution: </a:t>
            </a:r>
            <a:r>
              <a:rPr sz="1500">
                <a:solidFill>
                  <a:srgbClr val="333333"/>
                </a:solidFill>
              </a:rPr>
              <a:t>Federal University of Kashere (FUK), Gombe State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Supervision: </a:t>
            </a:r>
            <a:r>
              <a:rPr sz="1500">
                <a:solidFill>
                  <a:srgbClr val="333333"/>
                </a:solidFill>
              </a:rPr>
              <a:t>Dr. David Oyewola (Supervisor) | Dr. (Mrs.) Asabe (HOD)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Session: </a:t>
            </a:r>
            <a:r>
              <a:rPr sz="1500">
                <a:solidFill>
                  <a:srgbClr val="333333"/>
                </a:solidFill>
              </a:rPr>
              <a:t>July,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8"/>
                </a:solidFill>
              </a:defRPr>
            </a:pPr>
            <a:r>
              <a:t>SLIDE 2: INTRODUCTION</a:t>
            </a:r>
          </a:p>
          <a:p>
            <a:pPr>
              <a:defRPr sz="1300" i="1">
                <a:solidFill>
                  <a:srgbClr val="595959"/>
                </a:solidFill>
              </a:defRPr>
            </a:pPr>
            <a:r>
              <a:t>Abstract, Problem Statement, Aim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Short Abstract: </a:t>
            </a:r>
            <a:r>
              <a:rPr sz="1500">
                <a:solidFill>
                  <a:srgbClr val="333333"/>
                </a:solidFill>
              </a:rPr>
              <a:t>AuraQA is a fully offline RAG system that eliminates cloud data privacy risks and API costs while optimizing CPU prefill latency.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Problem Statement: </a:t>
            </a:r>
            <a:r>
              <a:rPr sz="1500">
                <a:solidFill>
                  <a:srgbClr val="333333"/>
                </a:solidFill>
              </a:rPr>
              <a:t>Manual document reading is inefficient, keyword search lacks context, and cloud LLMs expose sensitive data to privacy risks.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Aim of the System: </a:t>
            </a:r>
            <a:r>
              <a:rPr sz="1500">
                <a:solidFill>
                  <a:srgbClr val="333333"/>
                </a:solidFill>
              </a:rPr>
              <a:t>Develop a high-speed, secure, offline Intelligent Document Analysis and Learning Assistant System using local RAG.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Objectives: </a:t>
            </a:r>
            <a:r>
              <a:rPr sz="1500">
                <a:solidFill>
                  <a:srgbClr val="333333"/>
                </a:solidFill>
              </a:rPr>
              <a:t>1. Support PDF, DOCX, TXT, CSV; 2. Local QA via Ollama (Qwen/Gemma); 3. Offline Summaries, Quizzes &amp; Flashcards; 4. Out-of-Scope Shield &amp; Hausa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8"/>
                </a:solidFill>
              </a:defRPr>
            </a:pPr>
            <a:r>
              <a:t>SLIDE 3: LITERATURE REVIEW</a:t>
            </a:r>
          </a:p>
          <a:p>
            <a:pPr>
              <a:defRPr sz="1300" i="1">
                <a:solidFill>
                  <a:srgbClr val="595959"/>
                </a:solidFill>
              </a:defRPr>
            </a:pPr>
            <a:r>
              <a:t>Theoretical Framework, RAG Paradigm &amp;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Theoretical Framework: </a:t>
            </a:r>
            <a:r>
              <a:rPr sz="1500">
                <a:solidFill>
                  <a:srgbClr val="333333"/>
                </a:solidFill>
              </a:rPr>
              <a:t>Retrieval-Augmented Generation (RAG) combines dense vector search with local generative models to eliminate AI hallucinations.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RAG Paradigm: </a:t>
            </a:r>
            <a:r>
              <a:rPr sz="1500">
                <a:solidFill>
                  <a:srgbClr val="333333"/>
                </a:solidFill>
              </a:rPr>
              <a:t>paraphrase-multilingual-MiniLM-L12-v2 generates 384-dim embeddings; FAISS FlatIP index enables instant cosine similarity retrieval.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Multilingual Foundation: </a:t>
            </a:r>
            <a:r>
              <a:rPr sz="1500">
                <a:solidFill>
                  <a:srgbClr val="333333"/>
                </a:solidFill>
              </a:rPr>
              <a:t>Native cross-lingual vector alignment allows querying English documents in Hausa, Arabic, French, Spanish, and German.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Research Gap: </a:t>
            </a:r>
            <a:r>
              <a:rPr sz="1500">
                <a:solidFill>
                  <a:srgbClr val="333333"/>
                </a:solidFill>
              </a:rPr>
              <a:t>Bridging the gap between cloud-dependent LLMs and zero-cost, resource-constrained CPU offline hardware.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8"/>
                </a:solidFill>
              </a:defRPr>
            </a:pPr>
            <a:r>
              <a:t>SLIDE 4: METHODOLOGIES</a:t>
            </a:r>
          </a:p>
          <a:p>
            <a:pPr>
              <a:defRPr sz="1300" i="1">
                <a:solidFill>
                  <a:srgbClr val="595959"/>
                </a:solidFill>
              </a:defRPr>
            </a:pPr>
            <a:r>
              <a:t>Design Approach, Prototyping SDLC Model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System &amp; Design Model: </a:t>
            </a:r>
            <a:r>
              <a:rPr sz="1500">
                <a:solidFill>
                  <a:srgbClr val="333333"/>
                </a:solidFill>
              </a:rPr>
              <a:t>AuraQA System was designed using the Prototyping SDLC Model (Requirements Analysis, Architectural Modeling, Rapid Prototyping &amp; Benchmark Refinement).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Why Prototyping SDLC? </a:t>
            </a:r>
            <a:r>
              <a:rPr sz="1500">
                <a:solidFill>
                  <a:srgbClr val="333333"/>
                </a:solidFill>
              </a:rPr>
              <a:t>1. Iterative Chunking (1000-char chunks + 150-char overlap); 2. UI Refinement (collapsible sidebar &amp; study tools); 3. Latency Optimization (0.00s router).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Ingestion &amp; Extraction: </a:t>
            </a:r>
            <a:r>
              <a:rPr sz="1500">
                <a:solidFill>
                  <a:srgbClr val="333333"/>
                </a:solidFill>
              </a:rPr>
              <a:t>Multi-format text extraction (PDF, DOCX, TXT, CSV) mapped to exact page/row metadata for citation tracking.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Tools &amp; Tech Stack: </a:t>
            </a:r>
            <a:r>
              <a:rPr sz="1500">
                <a:solidFill>
                  <a:srgbClr val="333333"/>
                </a:solidFill>
              </a:rPr>
              <a:t>Next.js 16 + Tailwind CSS (Frontend), FastAPI + SQLite (Backend), FAISS (Vector Store), Ollama Qwen 2.5/Gemma 2 (Local LLM).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8"/>
                </a:solidFill>
              </a:defRPr>
            </a:pPr>
            <a:r>
              <a:t>SLIDE 5: SYSTEM DESIGN, IMPLEMENTATION &amp; RESULTS</a:t>
            </a:r>
          </a:p>
          <a:p>
            <a:pPr>
              <a:defRPr sz="1300" i="1">
                <a:solidFill>
                  <a:srgbClr val="595959"/>
                </a:solidFill>
              </a:defRPr>
            </a:pPr>
            <a:r>
              <a:t>Architecture, Key Features &amp; Benchmark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System Architecture: </a:t>
            </a:r>
            <a:r>
              <a:rPr sz="1500">
                <a:solidFill>
                  <a:srgbClr val="333333"/>
                </a:solidFill>
              </a:rPr>
              <a:t>User → Next.js SPA → FastAPI Server → Sentence Transformers → FAISS Index → Ollama LLM → Grounded Response.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Key Feature 1 - Grounded QA &amp; Chat: </a:t>
            </a:r>
            <a:r>
              <a:rPr sz="1500">
                <a:solidFill>
                  <a:srgbClr val="333333"/>
                </a:solidFill>
              </a:rPr>
              <a:t>Interactive chat with Gemini-style sidebar, streaming responses, and out-of-scope grounding shield (0.40 threshold).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Key Features 2, 3 &amp; 4 - Study Mode &amp; Hausa: </a:t>
            </a:r>
            <a:r>
              <a:rPr sz="1500">
                <a:solidFill>
                  <a:srgbClr val="333333"/>
                </a:solidFill>
              </a:rPr>
              <a:t>Automated Summary extraction, Multiple-Choice Quiz generator, Study Flashcards, and Hausa (`ha`) cross-lingual QA.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Benchmark Results: </a:t>
            </a:r>
            <a:r>
              <a:rPr sz="1500">
                <a:solidFill>
                  <a:srgbClr val="333333"/>
                </a:solidFill>
              </a:rPr>
              <a:t>Overall RAG CPU latency reduced by 48.57% (71.69s to 36.87s); router latency 0.00s; 100% out-of-scope hallucination block.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8"/>
                </a:solidFill>
              </a:defRPr>
            </a:pPr>
            <a:r>
              <a:t>SLIDE 6: SUMMARY, CONCLUSION &amp; RECOMMENDATIONS</a:t>
            </a:r>
          </a:p>
          <a:p>
            <a:pPr>
              <a:defRPr sz="1300" i="1">
                <a:solidFill>
                  <a:srgbClr val="595959"/>
                </a:solidFill>
              </a:defRPr>
            </a:pPr>
            <a:r>
              <a:t>Achievements, Institutional Significance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Summary of Achievements: </a:t>
            </a:r>
            <a:r>
              <a:rPr sz="1500">
                <a:solidFill>
                  <a:srgbClr val="333333"/>
                </a:solidFill>
              </a:rPr>
              <a:t>Built a fully functional, zero-cost, privacy-preserving offline learning assistant operating locally on standard laptop CPUs.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Conclusion: </a:t>
            </a:r>
            <a:r>
              <a:rPr sz="1500">
                <a:solidFill>
                  <a:srgbClr val="333333"/>
                </a:solidFill>
              </a:rPr>
              <a:t>Proves that data sovereignty and high-performance AI document analysis are achievable without cloud API dependency.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Recommendations: </a:t>
            </a:r>
            <a:r>
              <a:rPr sz="1500">
                <a:solidFill>
                  <a:srgbClr val="333333"/>
                </a:solidFill>
              </a:rPr>
              <a:t>Deploy AuraQA across university libraries, research departments, and schools with limited internet connectivity.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Future Extensions: </a:t>
            </a:r>
            <a:r>
              <a:rPr sz="1500">
                <a:solidFill>
                  <a:srgbClr val="333333"/>
                </a:solidFill>
              </a:rPr>
              <a:t>Incorporate OCR for scanned documents, mobile runtime (ONNX), and local Whisper voice assistant interaction.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8"/>
                </a:solidFill>
              </a:defRPr>
            </a:pPr>
            <a:r>
              <a:t>SLIDE 7: REFERENCES &amp; DEFENSE CONCLUSION</a:t>
            </a:r>
          </a:p>
          <a:p>
            <a:pPr>
              <a:defRPr sz="1300" i="1">
                <a:solidFill>
                  <a:srgbClr val="595959"/>
                </a:solidFill>
              </a:defRPr>
            </a:pPr>
            <a:r>
              <a:t>Short Academic Literature &amp; Panel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Lewis et al. (2020): </a:t>
            </a:r>
            <a:r>
              <a:rPr sz="1500">
                <a:solidFill>
                  <a:srgbClr val="333333"/>
                </a:solidFill>
              </a:rPr>
              <a:t>Retrieval-Augmented Generation for Knowledge-Intensive NLP Tasks. NeurIPS.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Johnson et al. (2019): </a:t>
            </a:r>
            <a:r>
              <a:rPr sz="1500">
                <a:solidFill>
                  <a:srgbClr val="333333"/>
                </a:solidFill>
              </a:rPr>
              <a:t>Billion-scale similarity search with GPUs. IEEE Transactions on Big Data (FAISS Framework).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Reimers &amp; Gurevych (2019): </a:t>
            </a:r>
            <a:r>
              <a:rPr sz="1500">
                <a:solidFill>
                  <a:srgbClr val="333333"/>
                </a:solidFill>
              </a:rPr>
              <a:t>Sentence-BERT: Sentence Embeddings using Siamese BERT-Networks. EMNLP.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Vaswani et al. (2017): </a:t>
            </a:r>
            <a:r>
              <a:rPr sz="1500">
                <a:solidFill>
                  <a:srgbClr val="333333"/>
                </a:solidFill>
              </a:rPr>
              <a:t>Attention Is All You Need. NeurIPS (Transformer Architecture).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</a:rPr>
              <a:t>Acknowledgement &amp; Q&amp;A: </a:t>
            </a:r>
            <a:r>
              <a:rPr sz="1500">
                <a:solidFill>
                  <a:srgbClr val="333333"/>
                </a:solidFill>
              </a:rPr>
              <a:t>Heartfelt thanks to FUK, Supervisor Dr. David Oyewola, HOD Dr. (Mrs.) Asabe. Open for panel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