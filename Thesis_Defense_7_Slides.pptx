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8"/>
                </a:solidFill>
              </a:defRPr>
            </a:pPr>
            <a:r>
              <a:t>DESIGN AND IMPLEMENTATION OF AN OFFLINE INTELLIGENT DOCUMENT ANALYSIS AND LEARNING ASSISTANT SYSTEM (AuraQA)</a:t>
            </a:r>
          </a:p>
          <a:p>
            <a:pPr>
              <a:defRPr sz="1400" i="1">
                <a:solidFill>
                  <a:srgbClr val="595959"/>
                </a:solidFill>
              </a:defRPr>
            </a:pPr>
            <a:r>
              <a:t>B.Sc. Graduation Project Defense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Candidate: </a:t>
            </a:r>
            <a:r>
              <a:rPr sz="1600">
                <a:solidFill>
                  <a:srgbClr val="333333"/>
                </a:solidFill>
              </a:rPr>
              <a:t>MUHAMMAD, Sagir Auwal (FUK/SCI/19/COM/0004)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Department: </a:t>
            </a:r>
            <a:r>
              <a:rPr sz="1600">
                <a:solidFill>
                  <a:srgbClr val="333333"/>
                </a:solidFill>
              </a:rPr>
              <a:t>Department of Mathematics &amp; Computer Science, Faculty of Science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Institution: </a:t>
            </a:r>
            <a:r>
              <a:rPr sz="1600">
                <a:solidFill>
                  <a:srgbClr val="333333"/>
                </a:solidFill>
              </a:rPr>
              <a:t>Federal University of Kashere (FUK), Gombe State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Supervision: </a:t>
            </a:r>
            <a:r>
              <a:rPr sz="1600">
                <a:solidFill>
                  <a:srgbClr val="333333"/>
                </a:solidFill>
              </a:rPr>
              <a:t>Dr. David Oyewola (Supervisor) | Dr. (Mrs.) Asabe (HOD)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Date: </a:t>
            </a:r>
            <a:r>
              <a:rPr sz="1600">
                <a:solidFill>
                  <a:srgbClr val="333333"/>
                </a:solidFill>
              </a:rPr>
              <a:t>July,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CHAPTER 1: INTRODUCTION &amp; PROBLEM STATEMENT</a:t>
            </a:r>
          </a:p>
          <a:p>
            <a:pPr>
              <a:defRPr sz="1400" i="1">
                <a:solidFill>
                  <a:srgbClr val="595959"/>
                </a:solidFill>
              </a:defRPr>
            </a:pPr>
            <a:r>
              <a:t>Background, Challenges,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Background Problem: </a:t>
            </a:r>
            <a:r>
              <a:rPr sz="1600">
                <a:solidFill>
                  <a:srgbClr val="333333"/>
                </a:solidFill>
              </a:rPr>
              <a:t>Privacy and data security risks when sending sensitive academic documents to third-party cloud APIs.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Technical Challenge: </a:t>
            </a:r>
            <a:r>
              <a:rPr sz="1600">
                <a:solidFill>
                  <a:srgbClr val="333333"/>
                </a:solidFill>
              </a:rPr>
              <a:t>High context prefill latency on standard CPU hardware during local LLM inference.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Main Objective: </a:t>
            </a:r>
            <a:r>
              <a:rPr sz="1600">
                <a:solidFill>
                  <a:srgbClr val="333333"/>
                </a:solidFill>
              </a:rPr>
              <a:t>To build a fully offline RAG system with multi-format parsing (PDF, DOCX, TXT, CSV), zero API reliance, and Hausa support.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Project Scope: </a:t>
            </a:r>
            <a:r>
              <a:rPr sz="1600">
                <a:solidFill>
                  <a:srgbClr val="333333"/>
                </a:solidFill>
              </a:rPr>
              <a:t>Ensuring complete data sovereignty, zero operational costs, and low-latency retrieval for local learning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CHAPTER 2: LITERATURE REVIEW &amp; THEORETICAL FRAMEWORK</a:t>
            </a:r>
          </a:p>
          <a:p>
            <a:pPr>
              <a:defRPr sz="1400" i="1">
                <a:solidFill>
                  <a:srgbClr val="595959"/>
                </a:solidFill>
              </a:defRPr>
            </a:pPr>
            <a:r>
              <a:t>Core Technologies and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RAG Architecture: </a:t>
            </a:r>
            <a:r>
              <a:rPr sz="1600">
                <a:solidFill>
                  <a:srgbClr val="333333"/>
                </a:solidFill>
              </a:rPr>
              <a:t>Combines dense vector retrieval (FAISS) with local generative models to eliminate AI hallucinations.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Multilingual Embeddings: </a:t>
            </a:r>
            <a:r>
              <a:rPr sz="1600">
                <a:solidFill>
                  <a:srgbClr val="333333"/>
                </a:solidFill>
              </a:rPr>
              <a:t>paraphrase-multilingual-MiniLM-L12-v2 model generates 384-dimensional cross-lingual embeddings.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Vector Indexing: </a:t>
            </a:r>
            <a:r>
              <a:rPr sz="1600">
                <a:solidFill>
                  <a:srgbClr val="333333"/>
                </a:solidFill>
              </a:rPr>
              <a:t>FAISS FlatIP index maps chunk IDs to vector spaces for instant cosine similarity search.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Research Gap: </a:t>
            </a:r>
            <a:r>
              <a:rPr sz="1600">
                <a:solidFill>
                  <a:srgbClr val="333333"/>
                </a:solidFill>
              </a:rPr>
              <a:t>Bridging the gap between cloud-dependent LLMs and zero-cost, resource-constrained CPU offline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CHAPTER 3: RESEARCH METHODOLOGY &amp; SYSTEM ARCHITECTURE</a:t>
            </a:r>
          </a:p>
          <a:p>
            <a:pPr>
              <a:defRPr sz="1400" i="1">
                <a:solidFill>
                  <a:srgbClr val="595959"/>
                </a:solidFill>
              </a:defRPr>
            </a:pPr>
            <a:r>
              <a:t>SDLC, Ingestion Pipeline, and Router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SDLC Framework: </a:t>
            </a:r>
            <a:r>
              <a:rPr sz="1600">
                <a:solidFill>
                  <a:srgbClr val="333333"/>
                </a:solidFill>
              </a:rPr>
              <a:t>Prototyping Software Development Life Cycle for rapid iterative user feedback and testing.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Ingestion Pipeline: </a:t>
            </a:r>
            <a:r>
              <a:rPr sz="1600">
                <a:solidFill>
                  <a:srgbClr val="333333"/>
                </a:solidFill>
              </a:rPr>
              <a:t>Aligned 1000-character text chunking with 150-character overlaps for optimal semantic context retention.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Deterministic Router: </a:t>
            </a:r>
            <a:r>
              <a:rPr sz="1600">
                <a:solidFill>
                  <a:srgbClr val="333333"/>
                </a:solidFill>
              </a:rPr>
              <a:t>Bypasses resource-heavy LLM classification calls, executing intent routing in 0.00 seconds.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Technology Stack: </a:t>
            </a:r>
            <a:r>
              <a:rPr sz="1600">
                <a:solidFill>
                  <a:srgbClr val="333333"/>
                </a:solidFill>
              </a:rPr>
              <a:t>Next.js 16 frontend + FastAPI Python backend + SQLite database + Ollama local LLM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CHAPTER 4: RESULTS AND SYSTEM EVALUATION</a:t>
            </a:r>
          </a:p>
          <a:p>
            <a:pPr>
              <a:defRPr sz="1400" i="1">
                <a:solidFill>
                  <a:srgbClr val="595959"/>
                </a:solidFill>
              </a:defRPr>
            </a:pPr>
            <a:r>
              <a:t>Latency Optimization, Routing Speed, and Grounding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Latency Optimization: </a:t>
            </a:r>
            <a:r>
              <a:rPr sz="1600">
                <a:solidFill>
                  <a:srgbClr val="333333"/>
                </a:solidFill>
              </a:rPr>
              <a:t>Overall RAG execution time on CPU fell by 48.57% (from 71.69 seconds down to 36.87 seconds).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Classifier Performance: </a:t>
            </a:r>
            <a:r>
              <a:rPr sz="1600">
                <a:solidFill>
                  <a:srgbClr val="333333"/>
                </a:solidFill>
              </a:rPr>
              <a:t>Deterministic query classifier reduced routing latency from 12.4 seconds to 0.00 seconds.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Grounding Shield: </a:t>
            </a:r>
            <a:r>
              <a:rPr sz="1600">
                <a:solidFill>
                  <a:srgbClr val="333333"/>
                </a:solidFill>
              </a:rPr>
              <a:t>Cosine similarity threshold (0.40) accurately blocks out-of-scope queries from hallucinating.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Feature Verification: </a:t>
            </a:r>
            <a:r>
              <a:rPr sz="1600">
                <a:solidFill>
                  <a:srgbClr val="333333"/>
                </a:solidFill>
              </a:rPr>
              <a:t>Interactive Study Mode generating summaries, quizzes, and flashcards instantly offline.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CHAPTER 5: CONCLUSION AND RECOMMENDATIONS</a:t>
            </a:r>
          </a:p>
          <a:p>
            <a:pPr>
              <a:defRPr sz="1400" i="1">
                <a:solidFill>
                  <a:srgbClr val="595959"/>
                </a:solidFill>
              </a:defRPr>
            </a:pPr>
            <a:r>
              <a:t>Summary of Contributions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Conclusion: </a:t>
            </a:r>
            <a:r>
              <a:rPr sz="1600">
                <a:solidFill>
                  <a:srgbClr val="333333"/>
                </a:solidFill>
              </a:rPr>
              <a:t>AuraQA successfully demonstrates high-speed, secure, offline document intelligence on standard laptop CPUs.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Key Achievements: </a:t>
            </a:r>
            <a:r>
              <a:rPr sz="1600">
                <a:solidFill>
                  <a:srgbClr val="333333"/>
                </a:solidFill>
              </a:rPr>
              <a:t>Zero cloud API costs, complete user data privacy, and native Hausa/multilingual query support.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Recommendation 1: </a:t>
            </a:r>
            <a:r>
              <a:rPr sz="1600">
                <a:solidFill>
                  <a:srgbClr val="333333"/>
                </a:solidFill>
              </a:rPr>
              <a:t>Deploy AuraQA across university libraries and research departments with limited internet infrastructure.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Recommendation 2: </a:t>
            </a:r>
            <a:r>
              <a:rPr sz="1600">
                <a:solidFill>
                  <a:srgbClr val="333333"/>
                </a:solidFill>
              </a:rPr>
              <a:t>Explore hardware GPU acceleration and ONNX runtime optimization for mobile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F4E78"/>
                </a:solidFill>
              </a:defRPr>
            </a:pPr>
            <a:r>
              <a:t>DEFENSE SUMMARY &amp; ACKNOWLEDGEMENTS</a:t>
            </a:r>
          </a:p>
          <a:p>
            <a:pPr>
              <a:defRPr sz="1400" i="1">
                <a:solidFill>
                  <a:srgbClr val="595959"/>
                </a:solidFill>
              </a:defRPr>
            </a:pPr>
            <a:r>
              <a:t>Conclusion &amp; Open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Project Summary: </a:t>
            </a:r>
            <a:r>
              <a:rPr sz="1600">
                <a:solidFill>
                  <a:srgbClr val="333333"/>
                </a:solidFill>
              </a:rPr>
              <a:t>Fully functional offline RAG system (AuraQA) built and validated for B.Sc. Computer Science degree requirements.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Acknowledgements: </a:t>
            </a:r>
            <a:r>
              <a:rPr sz="1600">
                <a:solidFill>
                  <a:srgbClr val="333333"/>
                </a:solidFill>
              </a:rPr>
              <a:t>Heartfelt thanks to Federal University of Kashere, my Supervisor Dr. David Oyewola, HOD Dr. (Mrs.) Asabe, and my family.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1F4E78"/>
                </a:solidFill>
              </a:rPr>
              <a:t>Q&amp;A Session: </a:t>
            </a:r>
            <a:r>
              <a:rPr sz="1600">
                <a:solidFill>
                  <a:srgbClr val="333333"/>
                </a:solidFill>
              </a:rPr>
              <a:t>Thank you for your time and attention. I am now open to questions from the honorable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